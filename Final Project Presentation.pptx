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chivo Black" panose="020B0604020202020204" charset="0"/>
      <p:regular r:id="rId10"/>
    </p:embeddedFont>
    <p:embeddedFont>
      <p:font typeface="Canva Sans Bold" panose="020B0604020202020204" charset="0"/>
      <p:regular r:id="rId11"/>
    </p:embeddedFont>
    <p:embeddedFont>
      <p:font typeface="Red Hat Display" panose="020B0604020202020204" charset="0"/>
      <p:regular r:id="rId12"/>
    </p:embeddedFont>
    <p:embeddedFont>
      <p:font typeface="Red Hat Display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eethub-mrbsystem.netlify.app" TargetMode="Externa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76325" y="3070235"/>
            <a:ext cx="11632165" cy="1465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50"/>
              </a:lnSpc>
            </a:pPr>
            <a:r>
              <a:rPr lang="en-US" sz="1143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MeetHub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6325" y="6244558"/>
            <a:ext cx="8981598" cy="746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2"/>
              </a:lnSpc>
              <a:spcBef>
                <a:spcPct val="0"/>
              </a:spcBef>
            </a:pPr>
            <a:r>
              <a:rPr lang="en-US" sz="4373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Presented by Selcan Zeynalova</a:t>
            </a:r>
          </a:p>
        </p:txBody>
      </p:sp>
      <p:sp>
        <p:nvSpPr>
          <p:cNvPr id="5" name="Freeform 5"/>
          <p:cNvSpPr/>
          <p:nvPr/>
        </p:nvSpPr>
        <p:spPr>
          <a:xfrm rot="-1542318" flipV="1">
            <a:off x="12527079" y="632777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3648" y="4661852"/>
            <a:ext cx="11032408" cy="832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7"/>
              </a:lnSpc>
            </a:pPr>
            <a:r>
              <a:rPr lang="en-US" sz="490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Meeting Room Booking System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>
            <a:off x="15947916" y="4739784"/>
            <a:ext cx="8573544" cy="6189536"/>
          </a:xfrm>
          <a:custGeom>
            <a:avLst/>
            <a:gdLst/>
            <a:ahLst/>
            <a:cxnLst/>
            <a:rect l="l" t="t" r="r" b="b"/>
            <a:pathLst>
              <a:path w="8573544" h="6189536">
                <a:moveTo>
                  <a:pt x="0" y="0"/>
                </a:moveTo>
                <a:lnTo>
                  <a:pt x="8573544" y="0"/>
                </a:lnTo>
                <a:lnTo>
                  <a:pt x="8573544" y="6189537"/>
                </a:lnTo>
                <a:lnTo>
                  <a:pt x="0" y="6189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58604" y="1570226"/>
            <a:ext cx="16770793" cy="4683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3"/>
              </a:lnSpc>
              <a:spcBef>
                <a:spcPct val="0"/>
              </a:spcBef>
            </a:pPr>
            <a:r>
              <a:rPr lang="en-US" sz="3106" spc="186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</a:t>
            </a:r>
            <a:r>
              <a:rPr lang="en-US" sz="3106" u="none" spc="186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eetHub is a web-based meeting room booking and management system designed to simplify how organizations manage their meeting spaces.</a:t>
            </a:r>
          </a:p>
          <a:p>
            <a:pPr marL="0" lvl="0" indent="0" algn="l">
              <a:lnSpc>
                <a:spcPts val="4193"/>
              </a:lnSpc>
              <a:spcBef>
                <a:spcPct val="0"/>
              </a:spcBef>
            </a:pPr>
            <a:endParaRPr lang="en-US" sz="3106" u="none" spc="186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l">
              <a:lnSpc>
                <a:spcPts val="4193"/>
              </a:lnSpc>
              <a:spcBef>
                <a:spcPct val="0"/>
              </a:spcBef>
            </a:pPr>
            <a:r>
              <a:rPr lang="en-US" sz="3106" u="none" spc="186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It allows users to:</a:t>
            </a:r>
          </a:p>
          <a:p>
            <a:pPr marL="670645" lvl="1" indent="-335322" algn="l">
              <a:lnSpc>
                <a:spcPts val="4193"/>
              </a:lnSpc>
              <a:spcBef>
                <a:spcPct val="0"/>
              </a:spcBef>
              <a:buFont typeface="Arial"/>
              <a:buChar char="•"/>
            </a:pPr>
            <a:r>
              <a:rPr lang="en-US" sz="3106" u="none" spc="186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Find available meeting rooms</a:t>
            </a:r>
          </a:p>
          <a:p>
            <a:pPr marL="670645" lvl="1" indent="-335322" algn="l">
              <a:lnSpc>
                <a:spcPts val="4193"/>
              </a:lnSpc>
              <a:spcBef>
                <a:spcPct val="0"/>
              </a:spcBef>
              <a:buFont typeface="Arial"/>
              <a:buChar char="•"/>
            </a:pPr>
            <a:r>
              <a:rPr lang="en-US" sz="3106" u="none" spc="186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Create and manage reservations</a:t>
            </a:r>
          </a:p>
          <a:p>
            <a:pPr marL="670645" lvl="1" indent="-335322" algn="l">
              <a:lnSpc>
                <a:spcPts val="4193"/>
              </a:lnSpc>
              <a:spcBef>
                <a:spcPct val="0"/>
              </a:spcBef>
              <a:buFont typeface="Arial"/>
              <a:buChar char="•"/>
            </a:pPr>
            <a:r>
              <a:rPr lang="en-US" sz="3106" u="none" spc="186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Check room availability with AI</a:t>
            </a:r>
          </a:p>
          <a:p>
            <a:pPr marL="670645" lvl="1" indent="-335322" algn="l">
              <a:lnSpc>
                <a:spcPts val="4193"/>
              </a:lnSpc>
              <a:spcBef>
                <a:spcPct val="0"/>
              </a:spcBef>
              <a:buFont typeface="Arial"/>
              <a:buChar char="•"/>
            </a:pPr>
            <a:r>
              <a:rPr lang="en-US" sz="3106" u="none" spc="186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Manage their bookings</a:t>
            </a:r>
          </a:p>
          <a:p>
            <a:pPr marL="0" lvl="0" indent="0" algn="l">
              <a:lnSpc>
                <a:spcPts val="4193"/>
              </a:lnSpc>
              <a:spcBef>
                <a:spcPct val="0"/>
              </a:spcBef>
            </a:pPr>
            <a:endParaRPr lang="en-US" sz="3106" u="none" spc="186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2271832" y="727092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40710" y="6689439"/>
            <a:ext cx="7360990" cy="4006078"/>
          </a:xfrm>
          <a:custGeom>
            <a:avLst/>
            <a:gdLst/>
            <a:ahLst/>
            <a:cxnLst/>
            <a:rect l="l" t="t" r="r" b="b"/>
            <a:pathLst>
              <a:path w="7360990" h="4006078">
                <a:moveTo>
                  <a:pt x="0" y="0"/>
                </a:moveTo>
                <a:lnTo>
                  <a:pt x="7360990" y="0"/>
                </a:lnTo>
                <a:lnTo>
                  <a:pt x="7360990" y="4006078"/>
                </a:lnTo>
                <a:lnTo>
                  <a:pt x="0" y="40060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79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967184" y="4467010"/>
            <a:ext cx="8609296" cy="5124766"/>
          </a:xfrm>
          <a:custGeom>
            <a:avLst/>
            <a:gdLst/>
            <a:ahLst/>
            <a:cxnLst/>
            <a:rect l="l" t="t" r="r" b="b"/>
            <a:pathLst>
              <a:path w="8609296" h="5124766">
                <a:moveTo>
                  <a:pt x="0" y="0"/>
                </a:moveTo>
                <a:lnTo>
                  <a:pt x="8609296" y="0"/>
                </a:lnTo>
                <a:lnTo>
                  <a:pt x="8609296" y="5124766"/>
                </a:lnTo>
                <a:lnTo>
                  <a:pt x="0" y="51247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482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91943" y="2736773"/>
            <a:ext cx="6569372" cy="4292620"/>
          </a:xfrm>
          <a:custGeom>
            <a:avLst/>
            <a:gdLst/>
            <a:ahLst/>
            <a:cxnLst/>
            <a:rect l="l" t="t" r="r" b="b"/>
            <a:pathLst>
              <a:path w="6569372" h="4292620">
                <a:moveTo>
                  <a:pt x="0" y="0"/>
                </a:moveTo>
                <a:lnTo>
                  <a:pt x="6569372" y="0"/>
                </a:lnTo>
                <a:lnTo>
                  <a:pt x="6569372" y="4292620"/>
                </a:lnTo>
                <a:lnTo>
                  <a:pt x="0" y="42926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2040" r="-216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793117" y="535305"/>
            <a:ext cx="12295886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is MeetHub?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645223" y="2943129"/>
            <a:ext cx="20061513" cy="0"/>
          </a:xfrm>
          <a:prstGeom prst="line">
            <a:avLst/>
          </a:prstGeom>
          <a:ln w="28575" cap="flat">
            <a:solidFill>
              <a:srgbClr val="F4F4E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2227066" y="2692101"/>
            <a:ext cx="502056" cy="50205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414442" y="2692101"/>
            <a:ext cx="502056" cy="50205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7071392" y="3783693"/>
            <a:ext cx="5767025" cy="3721716"/>
          </a:xfrm>
          <a:custGeom>
            <a:avLst/>
            <a:gdLst/>
            <a:ahLst/>
            <a:cxnLst/>
            <a:rect l="l" t="t" r="r" b="b"/>
            <a:pathLst>
              <a:path w="5767025" h="3721716">
                <a:moveTo>
                  <a:pt x="0" y="0"/>
                </a:moveTo>
                <a:lnTo>
                  <a:pt x="5767025" y="0"/>
                </a:lnTo>
                <a:lnTo>
                  <a:pt x="5767025" y="3721716"/>
                </a:lnTo>
                <a:lnTo>
                  <a:pt x="0" y="37217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745" t="-8396" r="-14873" b="-7197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752387" y="1472548"/>
            <a:ext cx="12783226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730"/>
              </a:lnSpc>
              <a:spcBef>
                <a:spcPct val="0"/>
              </a:spcBef>
            </a:pPr>
            <a:r>
              <a:rPr lang="en-US" sz="9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Technical Stack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27066" y="3482068"/>
            <a:ext cx="3139304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Backend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14442" y="3482068"/>
            <a:ext cx="3163457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Frontend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27066" y="4104368"/>
            <a:ext cx="6138558" cy="583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7963" lvl="1" indent="-293981" algn="l">
              <a:lnSpc>
                <a:spcPts val="4248"/>
              </a:lnSpc>
              <a:buFont typeface="Arial"/>
              <a:buChar char="•"/>
            </a:pPr>
            <a:r>
              <a:rPr lang="en-US" sz="2723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ASP.NET Core Web API</a:t>
            </a:r>
          </a:p>
          <a:p>
            <a:pPr marL="587963" lvl="1" indent="-293981" algn="l">
              <a:lnSpc>
                <a:spcPts val="4248"/>
              </a:lnSpc>
              <a:buFont typeface="Arial"/>
              <a:buChar char="•"/>
            </a:pPr>
            <a:r>
              <a:rPr lang="en-US" sz="2723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Entity Framework Core</a:t>
            </a:r>
          </a:p>
          <a:p>
            <a:pPr marL="587963" lvl="1" indent="-293981" algn="l">
              <a:lnSpc>
                <a:spcPts val="4248"/>
              </a:lnSpc>
              <a:buFont typeface="Arial"/>
              <a:buChar char="•"/>
            </a:pPr>
            <a:r>
              <a:rPr lang="en-US" sz="2723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SQL Server</a:t>
            </a:r>
          </a:p>
          <a:p>
            <a:pPr marL="587963" lvl="1" indent="-293981" algn="l">
              <a:lnSpc>
                <a:spcPts val="4248"/>
              </a:lnSpc>
              <a:buFont typeface="Arial"/>
              <a:buChar char="•"/>
            </a:pPr>
            <a:r>
              <a:rPr lang="en-US" sz="2723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ASP.NET Core Identity</a:t>
            </a:r>
          </a:p>
          <a:p>
            <a:pPr marL="587963" lvl="1" indent="-293981" algn="l">
              <a:lnSpc>
                <a:spcPts val="4248"/>
              </a:lnSpc>
              <a:buFont typeface="Arial"/>
              <a:buChar char="•"/>
            </a:pPr>
            <a:r>
              <a:rPr lang="en-US" sz="2723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2FA (Gmail SMTP)</a:t>
            </a:r>
          </a:p>
          <a:p>
            <a:pPr marL="587963" lvl="1" indent="-293981" algn="l">
              <a:lnSpc>
                <a:spcPts val="4248"/>
              </a:lnSpc>
              <a:buFont typeface="Arial"/>
              <a:buChar char="•"/>
            </a:pPr>
            <a:r>
              <a:rPr lang="en-US" sz="2723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JWT Authentication</a:t>
            </a:r>
          </a:p>
          <a:p>
            <a:pPr marL="587963" lvl="1" indent="-293981" algn="l">
              <a:lnSpc>
                <a:spcPts val="4248"/>
              </a:lnSpc>
              <a:buFont typeface="Arial"/>
              <a:buChar char="•"/>
            </a:pPr>
            <a:r>
              <a:rPr lang="en-US" sz="2723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SignalR</a:t>
            </a:r>
          </a:p>
          <a:p>
            <a:pPr marL="587963" lvl="1" indent="-293981" algn="l">
              <a:lnSpc>
                <a:spcPts val="4248"/>
              </a:lnSpc>
              <a:buFont typeface="Arial"/>
              <a:buChar char="•"/>
            </a:pPr>
            <a:r>
              <a:rPr lang="en-US" sz="2723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Fluent Validation , AutoMapper</a:t>
            </a:r>
          </a:p>
          <a:p>
            <a:pPr marL="587963" lvl="1" indent="-293981" algn="l">
              <a:lnSpc>
                <a:spcPts val="4248"/>
              </a:lnSpc>
              <a:buFont typeface="Arial"/>
              <a:buChar char="•"/>
            </a:pPr>
            <a:r>
              <a:rPr lang="en-US" sz="2723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xUnit / Moq / FluentAssertions</a:t>
            </a:r>
          </a:p>
          <a:p>
            <a:pPr marL="587963" lvl="1" indent="-293981" algn="l">
              <a:lnSpc>
                <a:spcPts val="4248"/>
              </a:lnSpc>
              <a:buFont typeface="Arial"/>
              <a:buChar char="•"/>
            </a:pPr>
            <a:r>
              <a:rPr lang="en-US" sz="2723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Serilog</a:t>
            </a:r>
          </a:p>
          <a:p>
            <a:pPr marL="587963" lvl="1" indent="-293981" algn="l">
              <a:lnSpc>
                <a:spcPts val="4248"/>
              </a:lnSpc>
              <a:buFont typeface="Arial"/>
              <a:buChar char="•"/>
            </a:pPr>
            <a:r>
              <a:rPr lang="en-US" sz="2723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Google Gemini AI API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14442" y="4513943"/>
            <a:ext cx="4873558" cy="4318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6375" lvl="1" indent="-298188" algn="l">
              <a:lnSpc>
                <a:spcPts val="4309"/>
              </a:lnSpc>
              <a:buFont typeface="Arial"/>
              <a:buChar char="•"/>
            </a:pPr>
            <a:r>
              <a:rPr lang="en-US" sz="276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HTML</a:t>
            </a:r>
          </a:p>
          <a:p>
            <a:pPr marL="596375" lvl="1" indent="-298188" algn="l">
              <a:lnSpc>
                <a:spcPts val="4309"/>
              </a:lnSpc>
              <a:buFont typeface="Arial"/>
              <a:buChar char="•"/>
            </a:pPr>
            <a:r>
              <a:rPr lang="en-US" sz="276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CSS</a:t>
            </a:r>
          </a:p>
          <a:p>
            <a:pPr marL="596375" lvl="1" indent="-298188" algn="l">
              <a:lnSpc>
                <a:spcPts val="4309"/>
              </a:lnSpc>
              <a:buFont typeface="Arial"/>
              <a:buChar char="•"/>
            </a:pPr>
            <a:r>
              <a:rPr lang="en-US" sz="276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JavaScript, Fetch API</a:t>
            </a:r>
          </a:p>
          <a:p>
            <a:pPr marL="596375" lvl="1" indent="-298188" algn="l">
              <a:lnSpc>
                <a:spcPts val="4309"/>
              </a:lnSpc>
              <a:buFont typeface="Arial"/>
              <a:buChar char="•"/>
            </a:pPr>
            <a:r>
              <a:rPr lang="en-US" sz="276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Bootstrap</a:t>
            </a:r>
          </a:p>
          <a:p>
            <a:pPr marL="596375" lvl="1" indent="-298188" algn="l">
              <a:lnSpc>
                <a:spcPts val="4309"/>
              </a:lnSpc>
              <a:buFont typeface="Arial"/>
              <a:buChar char="•"/>
            </a:pPr>
            <a:r>
              <a:rPr lang="en-US" sz="276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Chart.js</a:t>
            </a:r>
          </a:p>
          <a:p>
            <a:pPr marL="596375" lvl="1" indent="-298188" algn="l">
              <a:lnSpc>
                <a:spcPts val="4309"/>
              </a:lnSpc>
              <a:buFont typeface="Arial"/>
              <a:buChar char="•"/>
            </a:pPr>
            <a:r>
              <a:rPr lang="en-US" sz="276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AZ / EN localization</a:t>
            </a:r>
          </a:p>
          <a:p>
            <a:pPr marL="596375" lvl="1" indent="-298188" algn="l">
              <a:lnSpc>
                <a:spcPts val="4309"/>
              </a:lnSpc>
              <a:buFont typeface="Arial"/>
              <a:buChar char="•"/>
            </a:pPr>
            <a:r>
              <a:rPr lang="en-US" sz="276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Dark / Light Mode</a:t>
            </a:r>
          </a:p>
          <a:p>
            <a:pPr algn="l">
              <a:lnSpc>
                <a:spcPts val="4309"/>
              </a:lnSpc>
            </a:pPr>
            <a:endParaRPr lang="en-US" sz="2762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 flipH="1">
            <a:off x="-5868074" y="1391252"/>
            <a:ext cx="9108939" cy="6860049"/>
          </a:xfrm>
          <a:custGeom>
            <a:avLst/>
            <a:gdLst/>
            <a:ahLst/>
            <a:cxnLst/>
            <a:rect l="l" t="t" r="r" b="b"/>
            <a:pathLst>
              <a:path w="9108939" h="6860049">
                <a:moveTo>
                  <a:pt x="9108939" y="0"/>
                </a:moveTo>
                <a:lnTo>
                  <a:pt x="0" y="0"/>
                </a:lnTo>
                <a:lnTo>
                  <a:pt x="0" y="6860049"/>
                </a:lnTo>
                <a:lnTo>
                  <a:pt x="9108939" y="6860049"/>
                </a:lnTo>
                <a:lnTo>
                  <a:pt x="9108939" y="0"/>
                </a:lnTo>
                <a:close/>
              </a:path>
            </a:pathLst>
          </a:custGeom>
          <a:blipFill>
            <a:blip r:embed="rId3"/>
            <a:stretch>
              <a:fillRect l="-4318"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3293928" y="-2743031"/>
            <a:ext cx="0" cy="15773061"/>
          </a:xfrm>
          <a:prstGeom prst="line">
            <a:avLst/>
          </a:prstGeom>
          <a:ln w="19050" cap="flat">
            <a:solidFill>
              <a:srgbClr val="F4F4E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5400000">
            <a:off x="3096561" y="7274590"/>
            <a:ext cx="394734" cy="39473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3096561" y="2115600"/>
            <a:ext cx="394734" cy="39473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599899" y="7146967"/>
            <a:ext cx="3024394" cy="3024394"/>
          </a:xfrm>
          <a:custGeom>
            <a:avLst/>
            <a:gdLst/>
            <a:ahLst/>
            <a:cxnLst/>
            <a:rect l="l" t="t" r="r" b="b"/>
            <a:pathLst>
              <a:path w="3024394" h="3024394">
                <a:moveTo>
                  <a:pt x="0" y="0"/>
                </a:moveTo>
                <a:lnTo>
                  <a:pt x="3024394" y="0"/>
                </a:lnTo>
                <a:lnTo>
                  <a:pt x="3024394" y="3024395"/>
                </a:lnTo>
                <a:lnTo>
                  <a:pt x="0" y="3024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193569" y="1935142"/>
            <a:ext cx="732981" cy="755651"/>
          </a:xfrm>
          <a:custGeom>
            <a:avLst/>
            <a:gdLst/>
            <a:ahLst/>
            <a:cxnLst/>
            <a:rect l="l" t="t" r="r" b="b"/>
            <a:pathLst>
              <a:path w="732981" h="755651">
                <a:moveTo>
                  <a:pt x="0" y="0"/>
                </a:moveTo>
                <a:lnTo>
                  <a:pt x="732981" y="0"/>
                </a:lnTo>
                <a:lnTo>
                  <a:pt x="732981" y="755650"/>
                </a:lnTo>
                <a:lnTo>
                  <a:pt x="0" y="7556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317943" y="7146967"/>
            <a:ext cx="484234" cy="649979"/>
          </a:xfrm>
          <a:custGeom>
            <a:avLst/>
            <a:gdLst/>
            <a:ahLst/>
            <a:cxnLst/>
            <a:rect l="l" t="t" r="r" b="b"/>
            <a:pathLst>
              <a:path w="484234" h="649979">
                <a:moveTo>
                  <a:pt x="0" y="0"/>
                </a:moveTo>
                <a:lnTo>
                  <a:pt x="484234" y="0"/>
                </a:lnTo>
                <a:lnTo>
                  <a:pt x="484234" y="649979"/>
                </a:lnTo>
                <a:lnTo>
                  <a:pt x="0" y="6499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721077" y="2011342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Admin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37501" y="933450"/>
            <a:ext cx="10998264" cy="4467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7399" lvl="1" indent="-308699" algn="l">
              <a:lnSpc>
                <a:spcPts val="4461"/>
              </a:lnSpc>
              <a:buFont typeface="Arial"/>
              <a:buChar char="•"/>
            </a:pPr>
            <a:r>
              <a:rPr lang="en-US" sz="285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Manage buildings and floors</a:t>
            </a:r>
          </a:p>
          <a:p>
            <a:pPr marL="617399" lvl="1" indent="-308699" algn="l">
              <a:lnSpc>
                <a:spcPts val="4461"/>
              </a:lnSpc>
              <a:buFont typeface="Arial"/>
              <a:buChar char="•"/>
            </a:pPr>
            <a:r>
              <a:rPr lang="en-US" sz="285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Create, update and deactivate meeting rooms</a:t>
            </a:r>
          </a:p>
          <a:p>
            <a:pPr marL="617399" lvl="1" indent="-308699" algn="l">
              <a:lnSpc>
                <a:spcPts val="4461"/>
              </a:lnSpc>
              <a:buFont typeface="Arial"/>
              <a:buChar char="•"/>
            </a:pPr>
            <a:r>
              <a:rPr lang="en-US" sz="285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Manage room equipment, blackouts</a:t>
            </a:r>
          </a:p>
          <a:p>
            <a:pPr marL="617399" lvl="1" indent="-308699" algn="l">
              <a:lnSpc>
                <a:spcPts val="4461"/>
              </a:lnSpc>
              <a:buFont typeface="Arial"/>
              <a:buChar char="•"/>
            </a:pPr>
            <a:r>
              <a:rPr lang="en-US" sz="285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View and manage all reservations</a:t>
            </a:r>
          </a:p>
          <a:p>
            <a:pPr marL="617399" lvl="1" indent="-308699" algn="l">
              <a:lnSpc>
                <a:spcPts val="4461"/>
              </a:lnSpc>
              <a:buFont typeface="Arial"/>
              <a:buChar char="•"/>
            </a:pPr>
            <a:r>
              <a:rPr lang="en-US" sz="285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Manage users and their roles</a:t>
            </a:r>
          </a:p>
          <a:p>
            <a:pPr marL="617399" lvl="1" indent="-308699" algn="l">
              <a:lnSpc>
                <a:spcPts val="4461"/>
              </a:lnSpc>
              <a:buFont typeface="Arial"/>
              <a:buChar char="•"/>
            </a:pPr>
            <a:r>
              <a:rPr lang="en-US" sz="285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Manage system settings, working Hours</a:t>
            </a:r>
          </a:p>
          <a:p>
            <a:pPr marL="617399" lvl="1" indent="-308699" algn="l">
              <a:lnSpc>
                <a:spcPts val="4461"/>
              </a:lnSpc>
              <a:buFont typeface="Arial"/>
              <a:buChar char="•"/>
            </a:pPr>
            <a:r>
              <a:rPr lang="en-US" sz="285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View system statistics and real-time updates</a:t>
            </a:r>
          </a:p>
          <a:p>
            <a:pPr algn="l">
              <a:lnSpc>
                <a:spcPts val="4461"/>
              </a:lnSpc>
            </a:pPr>
            <a:endParaRPr lang="en-US" sz="2859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721077" y="7206118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User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37501" y="5703960"/>
            <a:ext cx="10774596" cy="4267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9171" lvl="1" indent="-294586" algn="l">
              <a:lnSpc>
                <a:spcPts val="4257"/>
              </a:lnSpc>
              <a:buFont typeface="Arial"/>
              <a:buChar char="•"/>
            </a:pPr>
            <a:r>
              <a:rPr lang="en-US" sz="2728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Browse available meeting rooms</a:t>
            </a:r>
          </a:p>
          <a:p>
            <a:pPr marL="589171" lvl="1" indent="-294586" algn="l">
              <a:lnSpc>
                <a:spcPts val="4257"/>
              </a:lnSpc>
              <a:buFont typeface="Arial"/>
              <a:buChar char="•"/>
            </a:pPr>
            <a:r>
              <a:rPr lang="en-US" sz="2728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Search rooms by availability and capacity</a:t>
            </a:r>
          </a:p>
          <a:p>
            <a:pPr marL="589171" lvl="1" indent="-294586" algn="l">
              <a:lnSpc>
                <a:spcPts val="4257"/>
              </a:lnSpc>
              <a:buFont typeface="Arial"/>
              <a:buChar char="•"/>
            </a:pPr>
            <a:r>
              <a:rPr lang="en-US" sz="2728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Create reservations</a:t>
            </a:r>
          </a:p>
          <a:p>
            <a:pPr marL="589171" lvl="1" indent="-294586" algn="l">
              <a:lnSpc>
                <a:spcPts val="4257"/>
              </a:lnSpc>
              <a:buFont typeface="Arial"/>
              <a:buChar char="•"/>
            </a:pPr>
            <a:r>
              <a:rPr lang="en-US" sz="2728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View personal reservations</a:t>
            </a:r>
          </a:p>
          <a:p>
            <a:pPr marL="589171" lvl="1" indent="-294586" algn="l">
              <a:lnSpc>
                <a:spcPts val="4257"/>
              </a:lnSpc>
              <a:buFont typeface="Arial"/>
              <a:buChar char="•"/>
            </a:pPr>
            <a:r>
              <a:rPr lang="en-US" sz="2728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Edit or cancel own reservations</a:t>
            </a:r>
          </a:p>
          <a:p>
            <a:pPr marL="589171" lvl="1" indent="-294586" algn="l">
              <a:lnSpc>
                <a:spcPts val="4257"/>
              </a:lnSpc>
              <a:buFont typeface="Arial"/>
              <a:buChar char="•"/>
            </a:pPr>
            <a:r>
              <a:rPr lang="en-US" sz="2728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Calendar view of reservations</a:t>
            </a:r>
          </a:p>
          <a:p>
            <a:pPr marL="589171" lvl="1" indent="-294586" algn="l">
              <a:lnSpc>
                <a:spcPts val="4257"/>
              </a:lnSpc>
              <a:buFont typeface="Arial"/>
              <a:buChar char="•"/>
            </a:pPr>
            <a:r>
              <a:rPr lang="en-US" sz="2728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Interact with the AI chatbot</a:t>
            </a:r>
          </a:p>
          <a:p>
            <a:pPr algn="l">
              <a:lnSpc>
                <a:spcPts val="4257"/>
              </a:lnSpc>
            </a:pPr>
            <a:endParaRPr lang="en-US" sz="2728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" name="AutoShape 18"/>
          <p:cNvSpPr/>
          <p:nvPr/>
        </p:nvSpPr>
        <p:spPr>
          <a:xfrm flipV="1">
            <a:off x="3721085" y="5382286"/>
            <a:ext cx="12305972" cy="9525"/>
          </a:xfrm>
          <a:prstGeom prst="line">
            <a:avLst/>
          </a:prstGeom>
          <a:ln w="19050" cap="flat">
            <a:solidFill>
              <a:srgbClr val="F4F4ED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174744" y="2502820"/>
            <a:ext cx="4413286" cy="5127619"/>
            <a:chOff x="0" y="0"/>
            <a:chExt cx="5884382" cy="6836825"/>
          </a:xfrm>
        </p:grpSpPr>
        <p:sp>
          <p:nvSpPr>
            <p:cNvPr id="4" name="Freeform 4"/>
            <p:cNvSpPr/>
            <p:nvPr/>
          </p:nvSpPr>
          <p:spPr>
            <a:xfrm rot="-7900054">
              <a:off x="26548" y="476933"/>
              <a:ext cx="1599151" cy="718164"/>
            </a:xfrm>
            <a:custGeom>
              <a:avLst/>
              <a:gdLst/>
              <a:ahLst/>
              <a:cxnLst/>
              <a:rect l="l" t="t" r="r" b="b"/>
              <a:pathLst>
                <a:path w="1599151" h="718164">
                  <a:moveTo>
                    <a:pt x="0" y="0"/>
                  </a:moveTo>
                  <a:lnTo>
                    <a:pt x="1599151" y="0"/>
                  </a:lnTo>
                  <a:lnTo>
                    <a:pt x="1599151" y="718164"/>
                  </a:lnTo>
                  <a:lnTo>
                    <a:pt x="0" y="718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2700000">
              <a:off x="4239191" y="495039"/>
              <a:ext cx="1599151" cy="718164"/>
            </a:xfrm>
            <a:custGeom>
              <a:avLst/>
              <a:gdLst/>
              <a:ahLst/>
              <a:cxnLst/>
              <a:rect l="l" t="t" r="r" b="b"/>
              <a:pathLst>
                <a:path w="1599151" h="718164">
                  <a:moveTo>
                    <a:pt x="0" y="0"/>
                  </a:moveTo>
                  <a:lnTo>
                    <a:pt x="1599151" y="0"/>
                  </a:lnTo>
                  <a:lnTo>
                    <a:pt x="1599151" y="718164"/>
                  </a:lnTo>
                  <a:lnTo>
                    <a:pt x="0" y="718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3209977">
              <a:off x="4320547" y="5621410"/>
              <a:ext cx="1599151" cy="718164"/>
            </a:xfrm>
            <a:custGeom>
              <a:avLst/>
              <a:gdLst/>
              <a:ahLst/>
              <a:cxnLst/>
              <a:rect l="l" t="t" r="r" b="b"/>
              <a:pathLst>
                <a:path w="1599151" h="718164">
                  <a:moveTo>
                    <a:pt x="0" y="0"/>
                  </a:moveTo>
                  <a:lnTo>
                    <a:pt x="1599151" y="0"/>
                  </a:lnTo>
                  <a:lnTo>
                    <a:pt x="1599151" y="718164"/>
                  </a:lnTo>
                  <a:lnTo>
                    <a:pt x="0" y="718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7866361">
              <a:off x="-3325" y="5583314"/>
              <a:ext cx="1599151" cy="718164"/>
            </a:xfrm>
            <a:custGeom>
              <a:avLst/>
              <a:gdLst/>
              <a:ahLst/>
              <a:cxnLst/>
              <a:rect l="l" t="t" r="r" b="b"/>
              <a:pathLst>
                <a:path w="1599151" h="718164">
                  <a:moveTo>
                    <a:pt x="0" y="0"/>
                  </a:moveTo>
                  <a:lnTo>
                    <a:pt x="1599151" y="0"/>
                  </a:lnTo>
                  <a:lnTo>
                    <a:pt x="1599151" y="718164"/>
                  </a:lnTo>
                  <a:lnTo>
                    <a:pt x="0" y="718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2228819"/>
              <a:ext cx="5884382" cy="2462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80"/>
                </a:lnSpc>
              </a:pPr>
              <a:r>
                <a:rPr lang="en-US" sz="7092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8 Main</a:t>
              </a:r>
            </a:p>
            <a:p>
              <a:pPr marL="0" lvl="1" indent="0" algn="ctr">
                <a:lnSpc>
                  <a:spcPts val="6880"/>
                </a:lnSpc>
                <a:spcBef>
                  <a:spcPct val="0"/>
                </a:spcBef>
              </a:pPr>
              <a:r>
                <a:rPr lang="en-US" sz="7092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Features 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612827" y="537148"/>
            <a:ext cx="4136976" cy="1686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27"/>
              </a:lnSpc>
            </a:pPr>
            <a:r>
              <a:rPr lang="en-US" sz="23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sz="2300" b="1" u="none" strike="noStrik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oom Catalog</a:t>
            </a:r>
          </a:p>
          <a:p>
            <a:pPr marL="0" lvl="0" indent="0" algn="ctr">
              <a:lnSpc>
                <a:spcPts val="3427"/>
              </a:lnSpc>
            </a:pPr>
            <a:r>
              <a:rPr lang="en-US" sz="2300" u="none" strike="noStrik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Rooms include name, floor, capacity, and available equipment.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17193" y="2939666"/>
            <a:ext cx="3976577" cy="1686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27"/>
              </a:lnSpc>
            </a:pPr>
            <a:r>
              <a:rPr lang="en-US" sz="23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sz="2300" b="1" u="none" strike="noStrik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eal-Time Search</a:t>
            </a:r>
          </a:p>
          <a:p>
            <a:pPr marL="0" lvl="0" indent="0" algn="ctr">
              <a:lnSpc>
                <a:spcPts val="3427"/>
              </a:lnSpc>
            </a:pPr>
            <a:r>
              <a:rPr lang="en-US" sz="2300" u="none" strike="noStrik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Users can search for available rooms by date, time range, and capacity.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97114" y="5555901"/>
            <a:ext cx="3552689" cy="1686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27"/>
              </a:lnSpc>
            </a:pPr>
            <a:r>
              <a:rPr lang="en-US" sz="2300" b="1" u="none" strike="noStrik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Booking Creation</a:t>
            </a:r>
          </a:p>
          <a:p>
            <a:pPr marL="0" lvl="0" indent="0" algn="ctr">
              <a:lnSpc>
                <a:spcPts val="3427"/>
              </a:lnSpc>
            </a:pPr>
            <a:r>
              <a:rPr lang="en-US" sz="2300" u="none" strike="noStrik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Users can create bookings with a meeting title, participants, and duration.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70079"/>
            <a:ext cx="1584127" cy="1417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F1.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023186"/>
            <a:ext cx="1933277" cy="1417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F2.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451126"/>
            <a:ext cx="1988493" cy="1417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F3.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97114" y="7938302"/>
            <a:ext cx="3552689" cy="1686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27"/>
              </a:lnSpc>
            </a:pPr>
            <a:r>
              <a:rPr lang="en-US" sz="2300" b="1" u="none" strike="noStrik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Booking Modification &amp; Cancellation</a:t>
            </a:r>
          </a:p>
          <a:p>
            <a:pPr marL="0" lvl="0" indent="0" algn="ctr">
              <a:lnSpc>
                <a:spcPts val="3427"/>
              </a:lnSpc>
            </a:pPr>
            <a:r>
              <a:rPr lang="en-US" sz="2300" b="1" u="none" strike="noStrik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2300" u="none" strike="noStrik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Users can modify or cancel their own reservations.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1092" y="7907301"/>
            <a:ext cx="1988493" cy="1417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F4.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38473" y="683808"/>
            <a:ext cx="3732610" cy="175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76"/>
              </a:lnSpc>
            </a:pPr>
            <a:r>
              <a:rPr lang="en-US" sz="24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</a:t>
            </a:r>
            <a:r>
              <a:rPr lang="en-US" sz="2400" b="1" u="none" strike="noStrik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oom Calendar</a:t>
            </a:r>
          </a:p>
          <a:p>
            <a:pPr marL="0" lvl="0" indent="0" algn="ctr">
              <a:lnSpc>
                <a:spcPts val="3576"/>
              </a:lnSpc>
            </a:pPr>
            <a:r>
              <a:rPr lang="en-US" sz="2400" b="1" u="none" strike="noStrik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2400" u="none" strike="noStrik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calendar view displays room bookings for each day.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57498" y="3005241"/>
            <a:ext cx="4131556" cy="175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76"/>
              </a:lnSpc>
            </a:pPr>
            <a:r>
              <a:rPr lang="en-US" sz="24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Conf</a:t>
            </a:r>
            <a:r>
              <a:rPr lang="en-US" sz="2400" b="1" u="none" strike="noStrik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lict Detection</a:t>
            </a:r>
          </a:p>
          <a:p>
            <a:pPr marL="0" lvl="0" indent="0" algn="ctr">
              <a:lnSpc>
                <a:spcPts val="3576"/>
              </a:lnSpc>
            </a:pPr>
            <a:r>
              <a:rPr lang="en-US" sz="2400" b="1" u="none" strike="noStrik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2400" u="none" strike="noStrik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system automatically prevents overlapping reservations.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38473" y="5544352"/>
            <a:ext cx="4350581" cy="175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76"/>
              </a:lnSpc>
            </a:pPr>
            <a:r>
              <a:rPr lang="en-US" sz="24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My</a:t>
            </a:r>
            <a:r>
              <a:rPr lang="en-US" sz="2400" b="1" u="none" strike="noStrik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Bookings</a:t>
            </a:r>
          </a:p>
          <a:p>
            <a:pPr marL="0" lvl="0" indent="0" algn="ctr">
              <a:lnSpc>
                <a:spcPts val="3576"/>
              </a:lnSpc>
            </a:pPr>
            <a:r>
              <a:rPr lang="en-US" sz="2400" b="1" u="none" strike="noStrik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2400" u="none" strike="noStrik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Each user has a personal dashboard to view and manage their bookings</a:t>
            </a:r>
            <a:r>
              <a:rPr lang="en-US" sz="2400" b="1" u="none" strike="noStrik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69006" y="635655"/>
            <a:ext cx="1584127" cy="1417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F5.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69006" y="3088762"/>
            <a:ext cx="1933277" cy="1417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F6.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69006" y="5516702"/>
            <a:ext cx="1988493" cy="1417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F7.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02283" y="7865785"/>
            <a:ext cx="3951635" cy="175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76"/>
              </a:lnSpc>
            </a:pPr>
            <a:r>
              <a:rPr lang="en-US" sz="24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Adm</a:t>
            </a:r>
            <a:r>
              <a:rPr lang="en-US" sz="2400" b="1" u="none" strike="noStrik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 Management</a:t>
            </a:r>
          </a:p>
          <a:p>
            <a:pPr marL="0" lvl="0" indent="0" algn="ctr">
              <a:lnSpc>
                <a:spcPts val="3576"/>
              </a:lnSpc>
            </a:pPr>
            <a:r>
              <a:rPr lang="en-US" sz="2400" b="1" u="none" strike="noStrik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2400" u="none" strike="noStrik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Admins can manage rooms, floors, and equipment inventory.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769006" y="7762427"/>
            <a:ext cx="1988493" cy="1417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F8.</a:t>
            </a:r>
          </a:p>
        </p:txBody>
      </p:sp>
      <p:sp>
        <p:nvSpPr>
          <p:cNvPr id="25" name="Freeform 25"/>
          <p:cNvSpPr/>
          <p:nvPr/>
        </p:nvSpPr>
        <p:spPr>
          <a:xfrm rot="6626729" flipH="1">
            <a:off x="16575939" y="-1104478"/>
            <a:ext cx="3775057" cy="2725344"/>
          </a:xfrm>
          <a:custGeom>
            <a:avLst/>
            <a:gdLst/>
            <a:ahLst/>
            <a:cxnLst/>
            <a:rect l="l" t="t" r="r" b="b"/>
            <a:pathLst>
              <a:path w="3775057" h="2725344">
                <a:moveTo>
                  <a:pt x="3775058" y="0"/>
                </a:moveTo>
                <a:lnTo>
                  <a:pt x="0" y="0"/>
                </a:lnTo>
                <a:lnTo>
                  <a:pt x="0" y="2725343"/>
                </a:lnTo>
                <a:lnTo>
                  <a:pt x="3775058" y="2725343"/>
                </a:lnTo>
                <a:lnTo>
                  <a:pt x="3775058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6626729" flipH="1">
            <a:off x="-1828364" y="9434320"/>
            <a:ext cx="3775057" cy="2725344"/>
          </a:xfrm>
          <a:custGeom>
            <a:avLst/>
            <a:gdLst/>
            <a:ahLst/>
            <a:cxnLst/>
            <a:rect l="l" t="t" r="r" b="b"/>
            <a:pathLst>
              <a:path w="3775057" h="2725344">
                <a:moveTo>
                  <a:pt x="3775057" y="0"/>
                </a:moveTo>
                <a:lnTo>
                  <a:pt x="0" y="0"/>
                </a:lnTo>
                <a:lnTo>
                  <a:pt x="0" y="2725344"/>
                </a:lnTo>
                <a:lnTo>
                  <a:pt x="3775057" y="2725344"/>
                </a:lnTo>
                <a:lnTo>
                  <a:pt x="3775057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64539" y="4339354"/>
            <a:ext cx="5832414" cy="1591182"/>
            <a:chOff x="0" y="0"/>
            <a:chExt cx="2205647" cy="6017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05647" cy="601738"/>
            </a:xfrm>
            <a:custGeom>
              <a:avLst/>
              <a:gdLst/>
              <a:ahLst/>
              <a:cxnLst/>
              <a:rect l="l" t="t" r="r" b="b"/>
              <a:pathLst>
                <a:path w="2205647" h="601738">
                  <a:moveTo>
                    <a:pt x="26548" y="0"/>
                  </a:moveTo>
                  <a:lnTo>
                    <a:pt x="2179099" y="0"/>
                  </a:lnTo>
                  <a:cubicBezTo>
                    <a:pt x="2193761" y="0"/>
                    <a:pt x="2205647" y="11886"/>
                    <a:pt x="2205647" y="26548"/>
                  </a:cubicBezTo>
                  <a:lnTo>
                    <a:pt x="2205647" y="575190"/>
                  </a:lnTo>
                  <a:cubicBezTo>
                    <a:pt x="2205647" y="582231"/>
                    <a:pt x="2202850" y="588984"/>
                    <a:pt x="2197872" y="593962"/>
                  </a:cubicBezTo>
                  <a:cubicBezTo>
                    <a:pt x="2192893" y="598941"/>
                    <a:pt x="2186140" y="601738"/>
                    <a:pt x="2179099" y="601738"/>
                  </a:cubicBezTo>
                  <a:lnTo>
                    <a:pt x="26548" y="601738"/>
                  </a:lnTo>
                  <a:cubicBezTo>
                    <a:pt x="11886" y="601738"/>
                    <a:pt x="0" y="589852"/>
                    <a:pt x="0" y="575190"/>
                  </a:cubicBezTo>
                  <a:lnTo>
                    <a:pt x="0" y="26548"/>
                  </a:lnTo>
                  <a:cubicBezTo>
                    <a:pt x="0" y="11886"/>
                    <a:pt x="11886" y="0"/>
                    <a:pt x="26548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05647" cy="639838"/>
            </a:xfrm>
            <a:prstGeom prst="rect">
              <a:avLst/>
            </a:prstGeom>
          </p:spPr>
          <p:txBody>
            <a:bodyPr lIns="44968" tIns="44968" rIns="44968" bIns="44968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64539" y="1901939"/>
            <a:ext cx="5832414" cy="1591182"/>
            <a:chOff x="0" y="0"/>
            <a:chExt cx="2205647" cy="6017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5647" cy="601738"/>
            </a:xfrm>
            <a:custGeom>
              <a:avLst/>
              <a:gdLst/>
              <a:ahLst/>
              <a:cxnLst/>
              <a:rect l="l" t="t" r="r" b="b"/>
              <a:pathLst>
                <a:path w="2205647" h="601738">
                  <a:moveTo>
                    <a:pt x="26548" y="0"/>
                  </a:moveTo>
                  <a:lnTo>
                    <a:pt x="2179099" y="0"/>
                  </a:lnTo>
                  <a:cubicBezTo>
                    <a:pt x="2193761" y="0"/>
                    <a:pt x="2205647" y="11886"/>
                    <a:pt x="2205647" y="26548"/>
                  </a:cubicBezTo>
                  <a:lnTo>
                    <a:pt x="2205647" y="575190"/>
                  </a:lnTo>
                  <a:cubicBezTo>
                    <a:pt x="2205647" y="582231"/>
                    <a:pt x="2202850" y="588984"/>
                    <a:pt x="2197872" y="593962"/>
                  </a:cubicBezTo>
                  <a:cubicBezTo>
                    <a:pt x="2192893" y="598941"/>
                    <a:pt x="2186140" y="601738"/>
                    <a:pt x="2179099" y="601738"/>
                  </a:cubicBezTo>
                  <a:lnTo>
                    <a:pt x="26548" y="601738"/>
                  </a:lnTo>
                  <a:cubicBezTo>
                    <a:pt x="11886" y="601738"/>
                    <a:pt x="0" y="589852"/>
                    <a:pt x="0" y="575190"/>
                  </a:cubicBezTo>
                  <a:lnTo>
                    <a:pt x="0" y="26548"/>
                  </a:lnTo>
                  <a:cubicBezTo>
                    <a:pt x="0" y="11886"/>
                    <a:pt x="11886" y="0"/>
                    <a:pt x="26548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05647" cy="639838"/>
            </a:xfrm>
            <a:prstGeom prst="rect">
              <a:avLst/>
            </a:prstGeom>
          </p:spPr>
          <p:txBody>
            <a:bodyPr lIns="44968" tIns="44968" rIns="44968" bIns="44968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97699" y="6778262"/>
            <a:ext cx="5832414" cy="1591182"/>
            <a:chOff x="0" y="0"/>
            <a:chExt cx="2205647" cy="6017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5647" cy="601738"/>
            </a:xfrm>
            <a:custGeom>
              <a:avLst/>
              <a:gdLst/>
              <a:ahLst/>
              <a:cxnLst/>
              <a:rect l="l" t="t" r="r" b="b"/>
              <a:pathLst>
                <a:path w="2205647" h="601738">
                  <a:moveTo>
                    <a:pt x="26548" y="0"/>
                  </a:moveTo>
                  <a:lnTo>
                    <a:pt x="2179099" y="0"/>
                  </a:lnTo>
                  <a:cubicBezTo>
                    <a:pt x="2193761" y="0"/>
                    <a:pt x="2205647" y="11886"/>
                    <a:pt x="2205647" y="26548"/>
                  </a:cubicBezTo>
                  <a:lnTo>
                    <a:pt x="2205647" y="575190"/>
                  </a:lnTo>
                  <a:cubicBezTo>
                    <a:pt x="2205647" y="582231"/>
                    <a:pt x="2202850" y="588984"/>
                    <a:pt x="2197872" y="593962"/>
                  </a:cubicBezTo>
                  <a:cubicBezTo>
                    <a:pt x="2192893" y="598941"/>
                    <a:pt x="2186140" y="601738"/>
                    <a:pt x="2179099" y="601738"/>
                  </a:cubicBezTo>
                  <a:lnTo>
                    <a:pt x="26548" y="601738"/>
                  </a:lnTo>
                  <a:cubicBezTo>
                    <a:pt x="11886" y="601738"/>
                    <a:pt x="0" y="589852"/>
                    <a:pt x="0" y="575190"/>
                  </a:cubicBezTo>
                  <a:lnTo>
                    <a:pt x="0" y="26548"/>
                  </a:lnTo>
                  <a:cubicBezTo>
                    <a:pt x="0" y="11886"/>
                    <a:pt x="11886" y="0"/>
                    <a:pt x="26548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05647" cy="639838"/>
            </a:xfrm>
            <a:prstGeom prst="rect">
              <a:avLst/>
            </a:prstGeom>
          </p:spPr>
          <p:txBody>
            <a:bodyPr lIns="44968" tIns="44968" rIns="44968" bIns="44968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705843" y="4330086"/>
            <a:ext cx="5832414" cy="1591182"/>
            <a:chOff x="0" y="0"/>
            <a:chExt cx="2205647" cy="6017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5647" cy="601738"/>
            </a:xfrm>
            <a:custGeom>
              <a:avLst/>
              <a:gdLst/>
              <a:ahLst/>
              <a:cxnLst/>
              <a:rect l="l" t="t" r="r" b="b"/>
              <a:pathLst>
                <a:path w="2205647" h="601738">
                  <a:moveTo>
                    <a:pt x="26548" y="0"/>
                  </a:moveTo>
                  <a:lnTo>
                    <a:pt x="2179099" y="0"/>
                  </a:lnTo>
                  <a:cubicBezTo>
                    <a:pt x="2193761" y="0"/>
                    <a:pt x="2205647" y="11886"/>
                    <a:pt x="2205647" y="26548"/>
                  </a:cubicBezTo>
                  <a:lnTo>
                    <a:pt x="2205647" y="575190"/>
                  </a:lnTo>
                  <a:cubicBezTo>
                    <a:pt x="2205647" y="582231"/>
                    <a:pt x="2202850" y="588984"/>
                    <a:pt x="2197872" y="593962"/>
                  </a:cubicBezTo>
                  <a:cubicBezTo>
                    <a:pt x="2192893" y="598941"/>
                    <a:pt x="2186140" y="601738"/>
                    <a:pt x="2179099" y="601738"/>
                  </a:cubicBezTo>
                  <a:lnTo>
                    <a:pt x="26548" y="601738"/>
                  </a:lnTo>
                  <a:cubicBezTo>
                    <a:pt x="11886" y="601738"/>
                    <a:pt x="0" y="589852"/>
                    <a:pt x="0" y="575190"/>
                  </a:cubicBezTo>
                  <a:lnTo>
                    <a:pt x="0" y="26548"/>
                  </a:lnTo>
                  <a:cubicBezTo>
                    <a:pt x="0" y="11886"/>
                    <a:pt x="11886" y="0"/>
                    <a:pt x="26548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05647" cy="639838"/>
            </a:xfrm>
            <a:prstGeom prst="rect">
              <a:avLst/>
            </a:prstGeom>
          </p:spPr>
          <p:txBody>
            <a:bodyPr lIns="44968" tIns="44968" rIns="44968" bIns="44968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705843" y="1892670"/>
            <a:ext cx="5832414" cy="1591182"/>
            <a:chOff x="0" y="0"/>
            <a:chExt cx="2205647" cy="6017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05647" cy="601738"/>
            </a:xfrm>
            <a:custGeom>
              <a:avLst/>
              <a:gdLst/>
              <a:ahLst/>
              <a:cxnLst/>
              <a:rect l="l" t="t" r="r" b="b"/>
              <a:pathLst>
                <a:path w="2205647" h="601738">
                  <a:moveTo>
                    <a:pt x="26548" y="0"/>
                  </a:moveTo>
                  <a:lnTo>
                    <a:pt x="2179099" y="0"/>
                  </a:lnTo>
                  <a:cubicBezTo>
                    <a:pt x="2193761" y="0"/>
                    <a:pt x="2205647" y="11886"/>
                    <a:pt x="2205647" y="26548"/>
                  </a:cubicBezTo>
                  <a:lnTo>
                    <a:pt x="2205647" y="575190"/>
                  </a:lnTo>
                  <a:cubicBezTo>
                    <a:pt x="2205647" y="582231"/>
                    <a:pt x="2202850" y="588984"/>
                    <a:pt x="2197872" y="593962"/>
                  </a:cubicBezTo>
                  <a:cubicBezTo>
                    <a:pt x="2192893" y="598941"/>
                    <a:pt x="2186140" y="601738"/>
                    <a:pt x="2179099" y="601738"/>
                  </a:cubicBezTo>
                  <a:lnTo>
                    <a:pt x="26548" y="601738"/>
                  </a:lnTo>
                  <a:cubicBezTo>
                    <a:pt x="11886" y="601738"/>
                    <a:pt x="0" y="589852"/>
                    <a:pt x="0" y="575190"/>
                  </a:cubicBezTo>
                  <a:lnTo>
                    <a:pt x="0" y="26548"/>
                  </a:lnTo>
                  <a:cubicBezTo>
                    <a:pt x="0" y="11886"/>
                    <a:pt x="11886" y="0"/>
                    <a:pt x="26548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05647" cy="639838"/>
            </a:xfrm>
            <a:prstGeom prst="rect">
              <a:avLst/>
            </a:prstGeom>
          </p:spPr>
          <p:txBody>
            <a:bodyPr lIns="44968" tIns="44968" rIns="44968" bIns="44968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5477874" y="7082450"/>
            <a:ext cx="3038150" cy="3038150"/>
          </a:xfrm>
          <a:custGeom>
            <a:avLst/>
            <a:gdLst/>
            <a:ahLst/>
            <a:cxnLst/>
            <a:rect l="l" t="t" r="r" b="b"/>
            <a:pathLst>
              <a:path w="3038150" h="3038150">
                <a:moveTo>
                  <a:pt x="0" y="0"/>
                </a:moveTo>
                <a:lnTo>
                  <a:pt x="3038150" y="0"/>
                </a:lnTo>
                <a:lnTo>
                  <a:pt x="3038150" y="3038150"/>
                </a:lnTo>
                <a:lnTo>
                  <a:pt x="0" y="30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630541" y="688847"/>
            <a:ext cx="9026917" cy="84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24"/>
              </a:lnSpc>
            </a:pPr>
            <a:r>
              <a:rPr lang="en-US" sz="641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Additional Features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81919" y="4606643"/>
            <a:ext cx="5615034" cy="121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39"/>
              </a:lnSpc>
              <a:spcBef>
                <a:spcPct val="0"/>
              </a:spcBef>
            </a:pPr>
            <a:r>
              <a:rPr lang="en-US" sz="2399" b="1" spc="38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</a:t>
            </a:r>
            <a:r>
              <a:rPr lang="en-US" sz="2399" b="1" u="none" spc="38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dmin Analytics Dashboard</a:t>
            </a:r>
          </a:p>
          <a:p>
            <a:pPr marL="518160" lvl="1" indent="-259080" algn="l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pc="38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Reservation statistics, visual charts</a:t>
            </a:r>
          </a:p>
          <a:p>
            <a:pPr marL="0" lvl="0" indent="0" algn="l">
              <a:lnSpc>
                <a:spcPts val="3239"/>
              </a:lnSpc>
              <a:spcBef>
                <a:spcPct val="0"/>
              </a:spcBef>
            </a:pPr>
            <a:endParaRPr lang="en-US" sz="2399" u="none" spc="38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481919" y="2203849"/>
            <a:ext cx="5263973" cy="121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0"/>
              </a:lnSpc>
              <a:spcBef>
                <a:spcPct val="0"/>
              </a:spcBef>
            </a:pPr>
            <a:r>
              <a:rPr lang="en-US" sz="2400" b="1" spc="38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AI-P</a:t>
            </a:r>
            <a:r>
              <a:rPr lang="en-US" sz="2400" b="1" u="none" spc="38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owered Chatbot</a:t>
            </a:r>
          </a:p>
          <a:p>
            <a:pPr marL="518160" lvl="1" indent="-259080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pc="38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Integrated with Google Gemini AI</a:t>
            </a:r>
          </a:p>
          <a:p>
            <a:pPr marL="0" lvl="0" indent="0" algn="l">
              <a:lnSpc>
                <a:spcPts val="3240"/>
              </a:lnSpc>
              <a:spcBef>
                <a:spcPct val="0"/>
              </a:spcBef>
            </a:pPr>
            <a:endParaRPr lang="en-US" sz="2400" u="none" spc="38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415079" y="6968762"/>
            <a:ext cx="5615034" cy="1621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39"/>
              </a:lnSpc>
              <a:spcBef>
                <a:spcPct val="0"/>
              </a:spcBef>
            </a:pPr>
            <a:r>
              <a:rPr lang="en-US" sz="2399" b="1" spc="38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Real-Time Up</a:t>
            </a:r>
            <a:r>
              <a:rPr lang="en-US" sz="2399" b="1" u="none" spc="38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dates with SignalR</a:t>
            </a:r>
          </a:p>
          <a:p>
            <a:pPr marL="518160" lvl="1" indent="-259080" algn="l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pc="38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Live reservation updates on the Admin Dashboard</a:t>
            </a:r>
          </a:p>
          <a:p>
            <a:pPr marL="0" lvl="0" indent="0" algn="l">
              <a:lnSpc>
                <a:spcPts val="3239"/>
              </a:lnSpc>
              <a:spcBef>
                <a:spcPct val="0"/>
              </a:spcBef>
            </a:pPr>
            <a:endParaRPr lang="en-US" sz="2399" u="none" spc="38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923223" y="4421063"/>
            <a:ext cx="5615034" cy="1621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39"/>
              </a:lnSpc>
              <a:spcBef>
                <a:spcPct val="0"/>
              </a:spcBef>
            </a:pPr>
            <a:r>
              <a:rPr lang="en-US" sz="2399" b="1" spc="38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</a:t>
            </a:r>
            <a:r>
              <a:rPr lang="en-US" sz="2399" b="1" u="none" spc="38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imezone Management</a:t>
            </a:r>
          </a:p>
          <a:p>
            <a:pPr marL="518160" lvl="1" indent="-259080" algn="l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u="none" spc="38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Centralized UTC and Asia/Baku timezone handling</a:t>
            </a:r>
          </a:p>
          <a:p>
            <a:pPr marL="0" lvl="0" indent="0" algn="l">
              <a:lnSpc>
                <a:spcPts val="3239"/>
              </a:lnSpc>
              <a:spcBef>
                <a:spcPct val="0"/>
              </a:spcBef>
            </a:pPr>
            <a:endParaRPr lang="en-US" sz="2399" u="none" spc="38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923223" y="2025507"/>
            <a:ext cx="5263973" cy="1621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0"/>
              </a:lnSpc>
              <a:spcBef>
                <a:spcPct val="0"/>
              </a:spcBef>
            </a:pPr>
            <a:r>
              <a:rPr lang="en-US" sz="2400" b="1" spc="38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</a:t>
            </a:r>
            <a:r>
              <a:rPr lang="en-US" sz="2400" b="1" u="none" spc="38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ogging &amp; Exception Handling</a:t>
            </a:r>
          </a:p>
          <a:p>
            <a:pPr marL="518160" lvl="1" indent="-259080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pc="38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Serilog-based logging and centralized exception middleware</a:t>
            </a:r>
          </a:p>
          <a:p>
            <a:pPr marL="0" lvl="0" indent="0" algn="l">
              <a:lnSpc>
                <a:spcPts val="3240"/>
              </a:lnSpc>
              <a:spcBef>
                <a:spcPct val="0"/>
              </a:spcBef>
            </a:pPr>
            <a:endParaRPr lang="en-US" sz="2400" u="none" spc="38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9639003" y="6696350"/>
            <a:ext cx="5832414" cy="1591182"/>
            <a:chOff x="0" y="0"/>
            <a:chExt cx="2205647" cy="60173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05647" cy="601738"/>
            </a:xfrm>
            <a:custGeom>
              <a:avLst/>
              <a:gdLst/>
              <a:ahLst/>
              <a:cxnLst/>
              <a:rect l="l" t="t" r="r" b="b"/>
              <a:pathLst>
                <a:path w="2205647" h="601738">
                  <a:moveTo>
                    <a:pt x="26548" y="0"/>
                  </a:moveTo>
                  <a:lnTo>
                    <a:pt x="2179099" y="0"/>
                  </a:lnTo>
                  <a:cubicBezTo>
                    <a:pt x="2193761" y="0"/>
                    <a:pt x="2205647" y="11886"/>
                    <a:pt x="2205647" y="26548"/>
                  </a:cubicBezTo>
                  <a:lnTo>
                    <a:pt x="2205647" y="575190"/>
                  </a:lnTo>
                  <a:cubicBezTo>
                    <a:pt x="2205647" y="582231"/>
                    <a:pt x="2202850" y="588984"/>
                    <a:pt x="2197872" y="593962"/>
                  </a:cubicBezTo>
                  <a:cubicBezTo>
                    <a:pt x="2192893" y="598941"/>
                    <a:pt x="2186140" y="601738"/>
                    <a:pt x="2179099" y="601738"/>
                  </a:cubicBezTo>
                  <a:lnTo>
                    <a:pt x="26548" y="601738"/>
                  </a:lnTo>
                  <a:cubicBezTo>
                    <a:pt x="11886" y="601738"/>
                    <a:pt x="0" y="589852"/>
                    <a:pt x="0" y="575190"/>
                  </a:cubicBezTo>
                  <a:lnTo>
                    <a:pt x="0" y="26548"/>
                  </a:lnTo>
                  <a:cubicBezTo>
                    <a:pt x="0" y="11886"/>
                    <a:pt x="11886" y="0"/>
                    <a:pt x="26548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205647" cy="639838"/>
            </a:xfrm>
            <a:prstGeom prst="rect">
              <a:avLst/>
            </a:prstGeom>
          </p:spPr>
          <p:txBody>
            <a:bodyPr lIns="44968" tIns="44968" rIns="44968" bIns="44968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923223" y="6941378"/>
            <a:ext cx="5615034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399" b="1" spc="38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i18n - internationalization</a:t>
            </a:r>
          </a:p>
          <a:p>
            <a:pPr marL="518160" lvl="1" indent="-259080" algn="l">
              <a:lnSpc>
                <a:spcPts val="3239"/>
              </a:lnSpc>
              <a:buFont typeface="Arial"/>
              <a:buChar char="•"/>
            </a:pPr>
            <a:r>
              <a:rPr lang="en-US" sz="2399" spc="38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AZ/EN Languages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406621" y="8732792"/>
            <a:ext cx="3474758" cy="1106809"/>
            <a:chOff x="0" y="0"/>
            <a:chExt cx="1600171" cy="5097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00171" cy="509700"/>
            </a:xfrm>
            <a:custGeom>
              <a:avLst/>
              <a:gdLst/>
              <a:ahLst/>
              <a:cxnLst/>
              <a:rect l="l" t="t" r="r" b="b"/>
              <a:pathLst>
                <a:path w="1600171" h="509700">
                  <a:moveTo>
                    <a:pt x="44561" y="0"/>
                  </a:moveTo>
                  <a:lnTo>
                    <a:pt x="1555610" y="0"/>
                  </a:lnTo>
                  <a:cubicBezTo>
                    <a:pt x="1567428" y="0"/>
                    <a:pt x="1578762" y="4695"/>
                    <a:pt x="1587119" y="13052"/>
                  </a:cubicBezTo>
                  <a:cubicBezTo>
                    <a:pt x="1595476" y="21408"/>
                    <a:pt x="1600171" y="32743"/>
                    <a:pt x="1600171" y="44561"/>
                  </a:cubicBezTo>
                  <a:lnTo>
                    <a:pt x="1600171" y="465139"/>
                  </a:lnTo>
                  <a:cubicBezTo>
                    <a:pt x="1600171" y="476957"/>
                    <a:pt x="1595476" y="488291"/>
                    <a:pt x="1587119" y="496648"/>
                  </a:cubicBezTo>
                  <a:cubicBezTo>
                    <a:pt x="1578762" y="505005"/>
                    <a:pt x="1567428" y="509700"/>
                    <a:pt x="1555610" y="509700"/>
                  </a:cubicBezTo>
                  <a:lnTo>
                    <a:pt x="44561" y="509700"/>
                  </a:lnTo>
                  <a:cubicBezTo>
                    <a:pt x="32743" y="509700"/>
                    <a:pt x="21408" y="505005"/>
                    <a:pt x="13052" y="496648"/>
                  </a:cubicBezTo>
                  <a:cubicBezTo>
                    <a:pt x="4695" y="488291"/>
                    <a:pt x="0" y="476957"/>
                    <a:pt x="0" y="465139"/>
                  </a:cubicBezTo>
                  <a:lnTo>
                    <a:pt x="0" y="44561"/>
                  </a:lnTo>
                  <a:cubicBezTo>
                    <a:pt x="0" y="32743"/>
                    <a:pt x="4695" y="21408"/>
                    <a:pt x="13052" y="13052"/>
                  </a:cubicBezTo>
                  <a:cubicBezTo>
                    <a:pt x="21408" y="4695"/>
                    <a:pt x="32743" y="0"/>
                    <a:pt x="44561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600171" cy="547800"/>
            </a:xfrm>
            <a:prstGeom prst="rect">
              <a:avLst/>
            </a:prstGeom>
          </p:spPr>
          <p:txBody>
            <a:bodyPr lIns="44968" tIns="44968" rIns="44968" bIns="44968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734451" y="8979724"/>
            <a:ext cx="3146928" cy="42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70"/>
              </a:lnSpc>
              <a:spcBef>
                <a:spcPct val="0"/>
              </a:spcBef>
            </a:pPr>
            <a:r>
              <a:rPr lang="en-US" sz="2570" b="1" spc="4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Dark/Light Mode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788437" y="2208988"/>
            <a:ext cx="5122610" cy="2358334"/>
          </a:xfrm>
          <a:custGeom>
            <a:avLst/>
            <a:gdLst/>
            <a:ahLst/>
            <a:cxnLst/>
            <a:rect l="l" t="t" r="r" b="b"/>
            <a:pathLst>
              <a:path w="5122610" h="2358334">
                <a:moveTo>
                  <a:pt x="0" y="0"/>
                </a:moveTo>
                <a:lnTo>
                  <a:pt x="5122611" y="0"/>
                </a:lnTo>
                <a:lnTo>
                  <a:pt x="5122611" y="2358334"/>
                </a:lnTo>
                <a:lnTo>
                  <a:pt x="0" y="23583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095095" y="5897265"/>
            <a:ext cx="3671464" cy="3671464"/>
          </a:xfrm>
          <a:custGeom>
            <a:avLst/>
            <a:gdLst/>
            <a:ahLst/>
            <a:cxnLst/>
            <a:rect l="l" t="t" r="r" b="b"/>
            <a:pathLst>
              <a:path w="3671464" h="3671464">
                <a:moveTo>
                  <a:pt x="0" y="0"/>
                </a:moveTo>
                <a:lnTo>
                  <a:pt x="3671464" y="0"/>
                </a:lnTo>
                <a:lnTo>
                  <a:pt x="3671464" y="3671464"/>
                </a:lnTo>
                <a:lnTo>
                  <a:pt x="0" y="3671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769490" y="729317"/>
            <a:ext cx="11212661" cy="69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7"/>
              </a:lnSpc>
            </a:pPr>
            <a:r>
              <a:rPr lang="en-US" sz="5193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Real-Time and AI Integration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4020" y="1756505"/>
            <a:ext cx="9341800" cy="379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5"/>
              </a:lnSpc>
              <a:spcBef>
                <a:spcPct val="0"/>
              </a:spcBef>
            </a:pPr>
            <a:r>
              <a:rPr lang="en-US" sz="2782" b="1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2782" b="1" u="none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Rea</a:t>
            </a:r>
            <a:r>
              <a:rPr lang="en-US" sz="2782" b="1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</a:t>
            </a:r>
            <a:r>
              <a:rPr lang="en-US" sz="2782" b="1" u="none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-T</a:t>
            </a:r>
            <a:r>
              <a:rPr lang="en-US" sz="2782" b="1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</a:t>
            </a:r>
            <a:r>
              <a:rPr lang="en-US" sz="2782" b="1" u="none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me</a:t>
            </a:r>
            <a:r>
              <a:rPr lang="en-US" sz="2782" b="1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2782" b="1" u="none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</a:t>
            </a:r>
            <a:r>
              <a:rPr lang="en-US" sz="2782" b="1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</a:t>
            </a:r>
            <a:r>
              <a:rPr lang="en-US" sz="2782" b="1" u="none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</a:t>
            </a:r>
            <a:r>
              <a:rPr lang="en-US" sz="2782" b="1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</a:t>
            </a:r>
            <a:r>
              <a:rPr lang="en-US" sz="2782" b="1" u="none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u</a:t>
            </a:r>
            <a:r>
              <a:rPr lang="en-US" sz="2782" b="1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</a:t>
            </a:r>
            <a:r>
              <a:rPr lang="en-US" sz="2782" b="1" u="none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ica</a:t>
            </a:r>
            <a:r>
              <a:rPr lang="en-US" sz="2782" b="1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</a:t>
            </a:r>
            <a:r>
              <a:rPr lang="en-US" sz="2782" b="1" u="none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ion</a:t>
            </a:r>
          </a:p>
          <a:p>
            <a:pPr marL="600669" lvl="1" indent="-300334" algn="l">
              <a:lnSpc>
                <a:spcPts val="3755"/>
              </a:lnSpc>
              <a:spcBef>
                <a:spcPct val="0"/>
              </a:spcBef>
              <a:buFont typeface="Arial"/>
              <a:buChar char="•"/>
            </a:pP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SignalR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int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gra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ti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</a:t>
            </a:r>
          </a:p>
          <a:p>
            <a:pPr marL="600669" lvl="1" indent="-300334" algn="l">
              <a:lnSpc>
                <a:spcPts val="3755"/>
              </a:lnSpc>
              <a:spcBef>
                <a:spcPct val="0"/>
              </a:spcBef>
              <a:buFont typeface="Arial"/>
              <a:buChar char="•"/>
            </a:pP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Live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oom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le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 updat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</a:t>
            </a:r>
          </a:p>
          <a:p>
            <a:pPr marL="600669" lvl="1" indent="-300334" algn="l">
              <a:lnSpc>
                <a:spcPts val="3755"/>
              </a:lnSpc>
              <a:spcBef>
                <a:spcPct val="0"/>
              </a:spcBef>
              <a:buFont typeface="Arial"/>
              <a:buChar char="•"/>
            </a:pP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ta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nt upd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at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es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when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eservations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ar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cre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ed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,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updated, or 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ce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lled</a:t>
            </a:r>
          </a:p>
          <a:p>
            <a:pPr marL="600669" lvl="1" indent="-300334" algn="l">
              <a:lnSpc>
                <a:spcPts val="3755"/>
              </a:lnSpc>
              <a:spcBef>
                <a:spcPct val="0"/>
              </a:spcBef>
              <a:buFont typeface="Arial"/>
              <a:buChar char="•"/>
            </a:pP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Automatic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synchr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on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iza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ion ac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ro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ss open ca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ar v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ews</a:t>
            </a:r>
          </a:p>
          <a:p>
            <a:pPr marL="0" lvl="0" indent="0" algn="l">
              <a:lnSpc>
                <a:spcPts val="3755"/>
              </a:lnSpc>
              <a:spcBef>
                <a:spcPct val="0"/>
              </a:spcBef>
            </a:pPr>
            <a:endParaRPr lang="en-US" sz="2782" u="none" spc="166">
              <a:solidFill>
                <a:srgbClr val="F4F4ED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110726" y="6249879"/>
            <a:ext cx="9148574" cy="331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55"/>
              </a:lnSpc>
              <a:spcBef>
                <a:spcPct val="0"/>
              </a:spcBef>
            </a:pPr>
            <a:r>
              <a:rPr lang="en-US" sz="2782" b="1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2782" b="1" u="none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AI</a:t>
            </a:r>
            <a:r>
              <a:rPr lang="en-US" sz="2782" b="1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2782" b="1" u="none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Assist</a:t>
            </a:r>
            <a:r>
              <a:rPr lang="en-US" sz="2782" b="1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an</a:t>
            </a:r>
            <a:r>
              <a:rPr lang="en-US" sz="2782" b="1" u="none" spc="166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</a:t>
            </a:r>
          </a:p>
          <a:p>
            <a:pPr marL="600669" lvl="1" indent="-300334" algn="l">
              <a:lnSpc>
                <a:spcPts val="3755"/>
              </a:lnSpc>
              <a:spcBef>
                <a:spcPct val="0"/>
              </a:spcBef>
              <a:buFont typeface="Arial"/>
              <a:buChar char="•"/>
            </a:pP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Goo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Gem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ni AI 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gr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ati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</a:t>
            </a:r>
          </a:p>
          <a:p>
            <a:pPr marL="600669" lvl="1" indent="-300334" algn="l">
              <a:lnSpc>
                <a:spcPts val="3755"/>
              </a:lnSpc>
              <a:spcBef>
                <a:spcPct val="0"/>
              </a:spcBef>
              <a:buFont typeface="Arial"/>
              <a:buChar char="•"/>
            </a:pP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nv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ersationa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roo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 se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</a:t>
            </a:r>
          </a:p>
          <a:p>
            <a:pPr marL="600669" lvl="1" indent="-300334" algn="l">
              <a:lnSpc>
                <a:spcPts val="3755"/>
              </a:lnSpc>
              <a:spcBef>
                <a:spcPct val="0"/>
              </a:spcBef>
              <a:buFont typeface="Arial"/>
              <a:buChar char="•"/>
            </a:pP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AI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can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search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r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al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room and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buildi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ng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</a:t>
            </a:r>
          </a:p>
          <a:p>
            <a:pPr marL="600669" lvl="1" indent="-300334" algn="l">
              <a:lnSpc>
                <a:spcPts val="3755"/>
              </a:lnSpc>
              <a:spcBef>
                <a:spcPct val="0"/>
              </a:spcBef>
              <a:buFont typeface="Arial"/>
              <a:buChar char="•"/>
            </a:pP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Func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tion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ca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ling 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nnec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ts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he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AI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assis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ta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w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ac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end s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</a:t>
            </a:r>
            <a:r>
              <a:rPr lang="en-US" sz="2782" u="none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</a:t>
            </a:r>
            <a:r>
              <a:rPr lang="en-US" sz="2782" spc="166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es</a:t>
            </a:r>
          </a:p>
          <a:p>
            <a:pPr marL="0" lvl="0" indent="0" algn="l">
              <a:lnSpc>
                <a:spcPts val="3755"/>
              </a:lnSpc>
              <a:spcBef>
                <a:spcPct val="0"/>
              </a:spcBef>
            </a:pPr>
            <a:endParaRPr lang="en-US" sz="2782" spc="166">
              <a:solidFill>
                <a:srgbClr val="F4F4ED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405055" y="6616013"/>
            <a:ext cx="8397485" cy="1207357"/>
            <a:chOff x="0" y="0"/>
            <a:chExt cx="2211683" cy="3179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11683" cy="317987"/>
            </a:xfrm>
            <a:custGeom>
              <a:avLst/>
              <a:gdLst/>
              <a:ahLst/>
              <a:cxnLst/>
              <a:rect l="l" t="t" r="r" b="b"/>
              <a:pathLst>
                <a:path w="2211683" h="317987">
                  <a:moveTo>
                    <a:pt x="18439" y="0"/>
                  </a:moveTo>
                  <a:lnTo>
                    <a:pt x="2193245" y="0"/>
                  </a:lnTo>
                  <a:cubicBezTo>
                    <a:pt x="2203428" y="0"/>
                    <a:pt x="2211683" y="8255"/>
                    <a:pt x="2211683" y="18439"/>
                  </a:cubicBezTo>
                  <a:lnTo>
                    <a:pt x="2211683" y="299548"/>
                  </a:lnTo>
                  <a:cubicBezTo>
                    <a:pt x="2211683" y="309732"/>
                    <a:pt x="2203428" y="317987"/>
                    <a:pt x="2193245" y="317987"/>
                  </a:cubicBezTo>
                  <a:lnTo>
                    <a:pt x="18439" y="317987"/>
                  </a:lnTo>
                  <a:cubicBezTo>
                    <a:pt x="8255" y="317987"/>
                    <a:pt x="0" y="309732"/>
                    <a:pt x="0" y="299548"/>
                  </a:cubicBezTo>
                  <a:lnTo>
                    <a:pt x="0" y="18439"/>
                  </a:lnTo>
                  <a:cubicBezTo>
                    <a:pt x="0" y="8255"/>
                    <a:pt x="8255" y="0"/>
                    <a:pt x="18439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11683" cy="356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542318" flipV="1">
            <a:off x="15842146" y="-241904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23502" y="4723329"/>
            <a:ext cx="4998980" cy="4998980"/>
          </a:xfrm>
          <a:custGeom>
            <a:avLst/>
            <a:gdLst/>
            <a:ahLst/>
            <a:cxnLst/>
            <a:rect l="l" t="t" r="r" b="b"/>
            <a:pathLst>
              <a:path w="4998980" h="4998980">
                <a:moveTo>
                  <a:pt x="0" y="0"/>
                </a:moveTo>
                <a:lnTo>
                  <a:pt x="4998981" y="0"/>
                </a:lnTo>
                <a:lnTo>
                  <a:pt x="4998981" y="4998980"/>
                </a:lnTo>
                <a:lnTo>
                  <a:pt x="0" y="4998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23502" y="2847517"/>
            <a:ext cx="11898014" cy="1504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15"/>
              </a:lnSpc>
              <a:spcBef>
                <a:spcPct val="0"/>
              </a:spcBef>
            </a:pPr>
            <a:r>
              <a:rPr lang="en-US" sz="3048" spc="1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</a:t>
            </a:r>
            <a:r>
              <a:rPr lang="en-US" sz="3048" u="none" spc="18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eetHub is a complete meeting room management platform designed to make room booking simpler, smarter, and more efficient.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3502" y="1128950"/>
            <a:ext cx="8489528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27822" y="6956578"/>
            <a:ext cx="7898644" cy="50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15"/>
              </a:lnSpc>
              <a:spcBef>
                <a:spcPct val="0"/>
              </a:spcBef>
            </a:pPr>
            <a:r>
              <a:rPr lang="en-US" sz="3048" u="sng" spc="182" dirty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  <a:sym typeface="Red Hat Display"/>
                <a:hlinkClick r:id="rId5" tooltip="https://meethub-mrbsystem.netlify.ap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https://meethub-mrbsystem.netlify.app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466</Words>
  <Application>Microsoft Office PowerPoint</Application>
  <PresentationFormat>Custom</PresentationFormat>
  <Paragraphs>102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Archivo Black</vt:lpstr>
      <vt:lpstr>Red Hat Display Bold</vt:lpstr>
      <vt:lpstr>Canva Sans Bold</vt:lpstr>
      <vt:lpstr>Arial</vt:lpstr>
      <vt:lpstr>Red Hat Display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Blue and White Project Presentation</dc:title>
  <dc:creator>Seljan</dc:creator>
  <cp:lastModifiedBy>ACER</cp:lastModifiedBy>
  <cp:revision>2</cp:revision>
  <dcterms:created xsi:type="dcterms:W3CDTF">2006-08-16T00:00:00Z</dcterms:created>
  <dcterms:modified xsi:type="dcterms:W3CDTF">2026-09-25T11:54:08Z</dcterms:modified>
  <dc:identifier>DAHWMcDJz2o</dc:identifier>
</cp:coreProperties>
</file>